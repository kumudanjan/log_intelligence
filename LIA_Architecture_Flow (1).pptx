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1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INTELLIGENCE ASSISTANT  —  Architecture Flow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420624"/>
            <a:ext cx="1161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Orion  ·  Genpact Capstone 2026  ·  app/  modules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520440" y="694944"/>
            <a:ext cx="64008" cy="658368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84448" y="694944"/>
            <a:ext cx="245059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85032" y="7680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Files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85032" y="99669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 ·  Apache  ·  Syslog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OpenTelemetry  ·  Plain text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126480" y="694944"/>
            <a:ext cx="64008" cy="658368"/>
          </a:xfrm>
          <a:prstGeom prst="rect">
            <a:avLst/>
          </a:prstGeom>
          <a:solidFill>
            <a:srgbClr val="39D0C8"/>
          </a:solidFill>
          <a:ln w="12700">
            <a:solidFill>
              <a:srgbClr val="39D0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90488" y="694944"/>
            <a:ext cx="245059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76809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 / Runbooks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91072" y="9966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.txt  ·  .docx  ·  .pdf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docs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77740" y="1353312"/>
            <a:ext cx="0" cy="18288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83780" y="1353312"/>
            <a:ext cx="0" cy="182880"/>
          </a:xfrm>
          <a:prstGeom prst="line">
            <a:avLst/>
          </a:prstGeom>
          <a:noFill/>
          <a:ln w="19050">
            <a:solidFill>
              <a:srgbClr val="39D0C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7740" y="1536192"/>
            <a:ext cx="2606040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536192"/>
            <a:ext cx="0" cy="18288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520440" y="1719072"/>
            <a:ext cx="64008" cy="658368"/>
          </a:xfrm>
          <a:prstGeom prst="rect">
            <a:avLst/>
          </a:prstGeom>
          <a:solidFill>
            <a:srgbClr val="39D0C8"/>
          </a:solidFill>
          <a:ln w="12700">
            <a:solidFill>
              <a:srgbClr val="39D0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4448" y="1719072"/>
            <a:ext cx="505663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9D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7739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39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3685032" y="179222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Pipeline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85032" y="2039112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app/ingestion/parser.py  +  vector_store.py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85032" y="2185416"/>
            <a:ext cx="596189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2185416"/>
            <a:ext cx="5961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354373" y="21854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-&gt;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37253" y="2185416"/>
            <a:ext cx="896112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7253" y="2185416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 Masker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506517" y="21854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-&gt;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89397" y="2185416"/>
            <a:ext cx="671170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39D0C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9397" y="2185416"/>
            <a:ext cx="6711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9D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433718" y="21854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-&gt;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16598" y="2185416"/>
            <a:ext cx="746150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6598" y="2185416"/>
            <a:ext cx="7461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435901" y="21854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-&gt;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618781" y="2185416"/>
            <a:ext cx="746150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18781" y="2185416"/>
            <a:ext cx="74615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ChromaDB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080760" y="2377440"/>
            <a:ext cx="0" cy="164592"/>
          </a:xfrm>
          <a:prstGeom prst="line">
            <a:avLst/>
          </a:prstGeom>
          <a:noFill/>
          <a:ln w="25400">
            <a:solidFill>
              <a:srgbClr val="39D0C8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6172200" y="238658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9D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3520440" y="2542032"/>
            <a:ext cx="64008" cy="65836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84448" y="2542032"/>
            <a:ext cx="505663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259689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685032" y="261518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Detector — Two-Layer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85032" y="2862072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app/anomaly/detector.py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85032" y="3008376"/>
            <a:ext cx="1420978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85032" y="3008376"/>
            <a:ext cx="14209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Z-Score (Layer 1)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179162" y="3008376"/>
            <a:ext cx="1945843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79162" y="3008376"/>
            <a:ext cx="19458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LLM Pattern (Layer 2)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198157" y="3008376"/>
            <a:ext cx="1420978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98157" y="3008376"/>
            <a:ext cx="14209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 AnomalyResult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080760" y="3200400"/>
            <a:ext cx="0" cy="164592"/>
          </a:xfrm>
          <a:prstGeom prst="line">
            <a:avLst/>
          </a:prstGeom>
          <a:noFill/>
          <a:ln w="25400">
            <a:solidFill>
              <a:srgbClr val="BC8CFF"/>
            </a:solidFill>
            <a:prstDash val="solid"/>
            <a:tailEnd type="arrow"/>
          </a:ln>
        </p:spPr>
      </p:sp>
      <p:sp>
        <p:nvSpPr>
          <p:cNvPr id="49" name="Text 47"/>
          <p:cNvSpPr/>
          <p:nvPr/>
        </p:nvSpPr>
        <p:spPr>
          <a:xfrm>
            <a:off x="6172200" y="320954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520440" y="3364992"/>
            <a:ext cx="64008" cy="658368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84448" y="3364992"/>
            <a:ext cx="505663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63840" y="341985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56D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685032" y="343814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RCA Agent — ReAct Loop (max 8 steps)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685032" y="3685032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app/rca/agent.py  ·  generator-based streaming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685032" y="3831336"/>
            <a:ext cx="1495958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85032" y="3831336"/>
            <a:ext cx="14959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search_logs(query)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254142" y="3831336"/>
            <a:ext cx="2095805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54142" y="3831336"/>
            <a:ext cx="20958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get_error_context(line_no)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7423099" y="3831336"/>
            <a:ext cx="1420978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23099" y="3831336"/>
            <a:ext cx="14209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lookup_sop(topic)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917229" y="3831336"/>
            <a:ext cx="1570939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17229" y="3831336"/>
            <a:ext cx="15709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count_errors(level)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080760" y="4023360"/>
            <a:ext cx="0" cy="164592"/>
          </a:xfrm>
          <a:prstGeom prst="line">
            <a:avLst/>
          </a:prstGeom>
          <a:noFill/>
          <a:ln w="25400">
            <a:solidFill>
              <a:srgbClr val="56D364"/>
            </a:solidFill>
            <a:prstDash val="solid"/>
            <a:tailEnd type="arrow"/>
          </a:ln>
        </p:spPr>
      </p:sp>
      <p:sp>
        <p:nvSpPr>
          <p:cNvPr id="64" name="Text 62"/>
          <p:cNvSpPr/>
          <p:nvPr/>
        </p:nvSpPr>
        <p:spPr>
          <a:xfrm>
            <a:off x="6172200" y="403250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6D3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3520440" y="4187952"/>
            <a:ext cx="64008" cy="65836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584448" y="4187952"/>
            <a:ext cx="505663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863840" y="424281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3685032" y="426110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Engine — Retrieve &gt; Generate &gt; Validate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685032" y="4507992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app/rag/engine.py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685032" y="4654296"/>
            <a:ext cx="1271016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85032" y="4654296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 collection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029200" y="4654296"/>
            <a:ext cx="1495958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39D0C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029200" y="4654296"/>
            <a:ext cx="14959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9D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sops collection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598310" y="4654296"/>
            <a:ext cx="1345997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98310" y="4654296"/>
            <a:ext cx="1345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 top-k ranked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8017459" y="4654296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17459" y="46542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 grounded context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6080760" y="4846320"/>
            <a:ext cx="0" cy="164592"/>
          </a:xfrm>
          <a:prstGeom prst="line">
            <a:avLst/>
          </a:prstGeom>
          <a:noFill/>
          <a:ln w="25400">
            <a:solidFill>
              <a:srgbClr val="E3B341"/>
            </a:solidFill>
            <a:prstDash val="solid"/>
            <a:tailEnd type="arrow"/>
          </a:ln>
        </p:spPr>
      </p:sp>
      <p:sp>
        <p:nvSpPr>
          <p:cNvPr id="79" name="Text 77"/>
          <p:cNvSpPr/>
          <p:nvPr/>
        </p:nvSpPr>
        <p:spPr>
          <a:xfrm>
            <a:off x="6172200" y="485546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3B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3520440" y="5010912"/>
            <a:ext cx="64008" cy="658368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584448" y="5010912"/>
            <a:ext cx="505663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863840" y="506577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3685032" y="508406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 Guardrails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3685032" y="5330952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app/guardrails/pii_masker.py  ·  at ingestion + on every LLM output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685032" y="5477256"/>
            <a:ext cx="1945843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85032" y="5477256"/>
            <a:ext cx="19458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 Masking (7 patterns)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5704027" y="5477256"/>
            <a:ext cx="1645920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704027" y="54772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 Detection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423099" y="5477256"/>
            <a:ext cx="1720901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423099" y="5477256"/>
            <a:ext cx="172090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Hallucination Scoring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9217152" y="5477256"/>
            <a:ext cx="1420978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217152" y="5477256"/>
            <a:ext cx="142097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Validation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080760" y="5669280"/>
            <a:ext cx="0" cy="164592"/>
          </a:xfrm>
          <a:prstGeom prst="line">
            <a:avLst/>
          </a:prstGeom>
          <a:noFill/>
          <a:ln w="25400">
            <a:solidFill>
              <a:srgbClr val="F85149"/>
            </a:solidFill>
            <a:prstDash val="solid"/>
            <a:tailEnd type="arrow"/>
          </a:ln>
        </p:spPr>
      </p:sp>
      <p:sp>
        <p:nvSpPr>
          <p:cNvPr id="94" name="Text 92"/>
          <p:cNvSpPr/>
          <p:nvPr/>
        </p:nvSpPr>
        <p:spPr>
          <a:xfrm>
            <a:off x="6172200" y="5678424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PROMPT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3520440" y="5833872"/>
            <a:ext cx="64008" cy="658368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584448" y="5833872"/>
            <a:ext cx="5056632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863840" y="58887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3685032" y="590702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— GPT-4o-mini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3685032" y="6153912"/>
            <a:ext cx="4864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app/llm/client.py  ·  Azure primary  +  OpenAI fallback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3685032" y="6300216"/>
            <a:ext cx="1795882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85032" y="6300216"/>
            <a:ext cx="17958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 OpenAI (primary)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5554066" y="6300216"/>
            <a:ext cx="1570939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554066" y="6300216"/>
            <a:ext cx="15709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OpenAI fallback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7198157" y="6300216"/>
            <a:ext cx="1570939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39D0C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198157" y="6300216"/>
            <a:ext cx="157093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9D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  Structured JSON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6080760" y="6492240"/>
            <a:ext cx="0" cy="146304"/>
          </a:xfrm>
          <a:prstGeom prst="line">
            <a:avLst/>
          </a:prstGeom>
          <a:noFill/>
          <a:ln w="25400">
            <a:solidFill>
              <a:srgbClr val="7EE787"/>
            </a:solidFill>
            <a:prstDash val="solid"/>
            <a:tailEnd type="arrow"/>
          </a:ln>
        </p:spPr>
      </p:sp>
      <p:sp>
        <p:nvSpPr>
          <p:cNvPr id="107" name="Shape 105"/>
          <p:cNvSpPr/>
          <p:nvPr/>
        </p:nvSpPr>
        <p:spPr>
          <a:xfrm>
            <a:off x="3520440" y="6638544"/>
            <a:ext cx="5120640" cy="420624"/>
          </a:xfrm>
          <a:prstGeom prst="rect">
            <a:avLst/>
          </a:prstGeom>
          <a:solidFill>
            <a:srgbClr val="1C2B3A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657600" y="6693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 — Results Dashboard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6446520" y="6748272"/>
            <a:ext cx="821131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446520" y="6748272"/>
            <a:ext cx="8211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Anomalies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340803" y="6748272"/>
            <a:ext cx="821131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340803" y="6748272"/>
            <a:ext cx="8211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RCA Steps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8235086" y="6748272"/>
            <a:ext cx="896112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35086" y="6748272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Answer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9204350" y="6748272"/>
            <a:ext cx="971093" cy="18288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204350" y="6748272"/>
            <a:ext cx="9710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 Metrics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182880" y="694944"/>
            <a:ext cx="3154680" cy="5989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74320" y="768096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A6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274320" y="100584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app/observability/metrics.py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274320" y="1170432"/>
            <a:ext cx="2971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74320" y="1225296"/>
            <a:ext cx="2971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74320" y="1225296"/>
            <a:ext cx="45720" cy="530352"/>
          </a:xfrm>
          <a:prstGeom prst="rect">
            <a:avLst/>
          </a:prstGeom>
          <a:solidFill>
            <a:srgbClr val="39D0C8"/>
          </a:solidFill>
          <a:ln w="12700">
            <a:solidFill>
              <a:srgbClr val="39D0C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84048" y="128930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9D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log_ingestion_latency_ms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384048" y="1499616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context manager  ·  mean / min / max / stdev</a:t>
            </a:r>
            <a:endParaRPr lang="en-US" sz="650" dirty="0"/>
          </a:p>
        </p:txBody>
      </p:sp>
      <p:sp>
        <p:nvSpPr>
          <p:cNvPr id="125" name="Shape 123"/>
          <p:cNvSpPr/>
          <p:nvPr/>
        </p:nvSpPr>
        <p:spPr>
          <a:xfrm>
            <a:off x="274320" y="1874520"/>
            <a:ext cx="2971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74320" y="1874520"/>
            <a:ext cx="45720" cy="53035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84048" y="193852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anomaly_detection_latency_ms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384048" y="214884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context manager  ·  mean / min / max / stdev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274320" y="2523744"/>
            <a:ext cx="2971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74320" y="2523744"/>
            <a:ext cx="45720" cy="530352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84048" y="258775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rca_agent_latency_ms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384048" y="2798064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context manager  ·  mean / min / max / stdev</a:t>
            </a:r>
            <a:endParaRPr lang="en-US" sz="650" dirty="0"/>
          </a:p>
        </p:txBody>
      </p:sp>
      <p:sp>
        <p:nvSpPr>
          <p:cNvPr id="133" name="Shape 131"/>
          <p:cNvSpPr/>
          <p:nvPr/>
        </p:nvSpPr>
        <p:spPr>
          <a:xfrm>
            <a:off x="274320" y="3172968"/>
            <a:ext cx="2971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74320" y="3172968"/>
            <a:ext cx="45720" cy="53035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384048" y="3236976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rag_query_latency_ms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384048" y="3447288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context manager  ·  mean / min / max / stdev</a:t>
            </a:r>
            <a:endParaRPr lang="en-US" sz="650" dirty="0"/>
          </a:p>
        </p:txBody>
      </p:sp>
      <p:sp>
        <p:nvSpPr>
          <p:cNvPr id="137" name="Shape 135"/>
          <p:cNvSpPr/>
          <p:nvPr/>
        </p:nvSpPr>
        <p:spPr>
          <a:xfrm>
            <a:off x="274320" y="3822192"/>
            <a:ext cx="2971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74320" y="3822192"/>
            <a:ext cx="45720" cy="530352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84048" y="388620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rag_hallucination_score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384048" y="4096512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context manager  ·  mean / min / max / stdev</a:t>
            </a:r>
            <a:endParaRPr lang="en-US" sz="650" dirty="0"/>
          </a:p>
        </p:txBody>
      </p:sp>
      <p:sp>
        <p:nvSpPr>
          <p:cNvPr id="141" name="Shape 139"/>
          <p:cNvSpPr/>
          <p:nvPr/>
        </p:nvSpPr>
        <p:spPr>
          <a:xfrm>
            <a:off x="274320" y="4471416"/>
            <a:ext cx="2971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74320" y="4471416"/>
            <a:ext cx="45720" cy="530352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84048" y="4535424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anomalies_detected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384048" y="4745736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context manager  ·  mean / min / max / stdev</a:t>
            </a:r>
            <a:endParaRPr lang="en-US" sz="650" dirty="0"/>
          </a:p>
        </p:txBody>
      </p:sp>
      <p:sp>
        <p:nvSpPr>
          <p:cNvPr id="145" name="Shape 143"/>
          <p:cNvSpPr/>
          <p:nvPr/>
        </p:nvSpPr>
        <p:spPr>
          <a:xfrm>
            <a:off x="274320" y="5120640"/>
            <a:ext cx="2971800" cy="5303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74320" y="5120640"/>
            <a:ext cx="45720" cy="530352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384048" y="518464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chunks_indexed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384048" y="5394960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context manager  ·  mean / min / max / stdev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8823960" y="694944"/>
            <a:ext cx="3154680" cy="5989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915400" y="768096"/>
            <a:ext cx="2971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INDEX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8915400" y="100584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project4/app/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8915400" y="1170432"/>
            <a:ext cx="29718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915400" y="1225296"/>
            <a:ext cx="29718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915400" y="1225296"/>
            <a:ext cx="45720" cy="548640"/>
          </a:xfrm>
          <a:prstGeom prst="rect">
            <a:avLst/>
          </a:prstGeom>
          <a:solidFill>
            <a:srgbClr val="39D0C8"/>
          </a:solidFill>
          <a:ln w="12700">
            <a:solidFill>
              <a:srgbClr val="39D0C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9025128" y="1289304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9D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parser.py</a:t>
            </a:r>
            <a:endParaRPr lang="en-US" sz="850" dirty="0"/>
          </a:p>
        </p:txBody>
      </p:sp>
      <p:sp>
        <p:nvSpPr>
          <p:cNvPr id="156" name="Text 154"/>
          <p:cNvSpPr/>
          <p:nvPr/>
        </p:nvSpPr>
        <p:spPr>
          <a:xfrm>
            <a:off x="9025128" y="1508760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6-format log parser</a:t>
            </a:r>
            <a:endParaRPr lang="en-US" sz="800" dirty="0"/>
          </a:p>
        </p:txBody>
      </p:sp>
      <p:sp>
        <p:nvSpPr>
          <p:cNvPr id="157" name="Shape 155"/>
          <p:cNvSpPr/>
          <p:nvPr/>
        </p:nvSpPr>
        <p:spPr>
          <a:xfrm>
            <a:off x="8915400" y="1883664"/>
            <a:ext cx="29718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915400" y="1883664"/>
            <a:ext cx="45720" cy="54864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9025128" y="194767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vector_store.py</a:t>
            </a:r>
            <a:endParaRPr lang="en-US" sz="850" dirty="0"/>
          </a:p>
        </p:txBody>
      </p:sp>
      <p:sp>
        <p:nvSpPr>
          <p:cNvPr id="160" name="Text 158"/>
          <p:cNvSpPr/>
          <p:nvPr/>
        </p:nvSpPr>
        <p:spPr>
          <a:xfrm>
            <a:off x="9025128" y="2167128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/ Azure AI Search</a:t>
            </a:r>
            <a:endParaRPr lang="en-US" sz="800" dirty="0"/>
          </a:p>
        </p:txBody>
      </p:sp>
      <p:sp>
        <p:nvSpPr>
          <p:cNvPr id="161" name="Shape 159"/>
          <p:cNvSpPr/>
          <p:nvPr/>
        </p:nvSpPr>
        <p:spPr>
          <a:xfrm>
            <a:off x="8915400" y="2542032"/>
            <a:ext cx="29718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915400" y="2542032"/>
            <a:ext cx="45720" cy="54864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9025128" y="2606040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detector.py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9025128" y="2825496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Z-score + LLM detection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8915400" y="3200400"/>
            <a:ext cx="29718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915400" y="3200400"/>
            <a:ext cx="45720" cy="548640"/>
          </a:xfrm>
          <a:prstGeom prst="rect">
            <a:avLst/>
          </a:prstGeom>
          <a:solidFill>
            <a:srgbClr val="56D364"/>
          </a:solidFill>
          <a:ln w="12700">
            <a:solidFill>
              <a:srgbClr val="56D364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9025128" y="3264408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agent.py</a:t>
            </a:r>
            <a:endParaRPr lang="en-US" sz="850" dirty="0"/>
          </a:p>
        </p:txBody>
      </p:sp>
      <p:sp>
        <p:nvSpPr>
          <p:cNvPr id="168" name="Text 166"/>
          <p:cNvSpPr/>
          <p:nvPr/>
        </p:nvSpPr>
        <p:spPr>
          <a:xfrm>
            <a:off x="9025128" y="3483864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loop  ·  4 tools</a:t>
            </a:r>
            <a:endParaRPr lang="en-US" sz="800" dirty="0"/>
          </a:p>
        </p:txBody>
      </p:sp>
      <p:sp>
        <p:nvSpPr>
          <p:cNvPr id="169" name="Shape 167"/>
          <p:cNvSpPr/>
          <p:nvPr/>
        </p:nvSpPr>
        <p:spPr>
          <a:xfrm>
            <a:off x="8915400" y="3858768"/>
            <a:ext cx="29718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915400" y="3858768"/>
            <a:ext cx="45720" cy="548640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025128" y="3922776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engine.py</a:t>
            </a:r>
            <a:endParaRPr lang="en-US" sz="850" dirty="0"/>
          </a:p>
        </p:txBody>
      </p:sp>
      <p:sp>
        <p:nvSpPr>
          <p:cNvPr id="172" name="Text 170"/>
          <p:cNvSpPr/>
          <p:nvPr/>
        </p:nvSpPr>
        <p:spPr>
          <a:xfrm>
            <a:off x="9025128" y="4142232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800" dirty="0"/>
          </a:p>
        </p:txBody>
      </p:sp>
      <p:sp>
        <p:nvSpPr>
          <p:cNvPr id="173" name="Shape 171"/>
          <p:cNvSpPr/>
          <p:nvPr/>
        </p:nvSpPr>
        <p:spPr>
          <a:xfrm>
            <a:off x="8915400" y="4517136"/>
            <a:ext cx="29718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8915400" y="4517136"/>
            <a:ext cx="45720" cy="54864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9025128" y="4581144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pii_masker.py</a:t>
            </a:r>
            <a:endParaRPr lang="en-US" sz="850" dirty="0"/>
          </a:p>
        </p:txBody>
      </p:sp>
      <p:sp>
        <p:nvSpPr>
          <p:cNvPr id="176" name="Text 174"/>
          <p:cNvSpPr/>
          <p:nvPr/>
        </p:nvSpPr>
        <p:spPr>
          <a:xfrm>
            <a:off x="9025128" y="4800600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 ·  PII  ·  scoring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8915400" y="5175504"/>
            <a:ext cx="29718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8915400" y="5175504"/>
            <a:ext cx="45720" cy="548640"/>
          </a:xfrm>
          <a:prstGeom prst="rect">
            <a:avLst/>
          </a:prstGeom>
          <a:solidFill>
            <a:srgbClr val="7EE787"/>
          </a:solidFill>
          <a:ln w="12700">
            <a:solidFill>
              <a:srgbClr val="7EE787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9025128" y="5239512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client.py</a:t>
            </a:r>
            <a:endParaRPr lang="en-US" sz="850" dirty="0"/>
          </a:p>
        </p:txBody>
      </p:sp>
      <p:sp>
        <p:nvSpPr>
          <p:cNvPr id="180" name="Text 178"/>
          <p:cNvSpPr/>
          <p:nvPr/>
        </p:nvSpPr>
        <p:spPr>
          <a:xfrm>
            <a:off x="9025128" y="5458968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+ fallback</a:t>
            </a:r>
            <a:endParaRPr lang="en-US" sz="800" dirty="0"/>
          </a:p>
        </p:txBody>
      </p:sp>
      <p:sp>
        <p:nvSpPr>
          <p:cNvPr id="181" name="Shape 179"/>
          <p:cNvSpPr/>
          <p:nvPr/>
        </p:nvSpPr>
        <p:spPr>
          <a:xfrm>
            <a:off x="8915400" y="5833872"/>
            <a:ext cx="2971800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8915400" y="5833872"/>
            <a:ext cx="45720" cy="548640"/>
          </a:xfrm>
          <a:prstGeom prst="rect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9025128" y="5897880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metrics.py</a:t>
            </a:r>
            <a:endParaRPr lang="en-US" sz="850" dirty="0"/>
          </a:p>
        </p:txBody>
      </p:sp>
      <p:sp>
        <p:nvSpPr>
          <p:cNvPr id="184" name="Text 182"/>
          <p:cNvSpPr/>
          <p:nvPr/>
        </p:nvSpPr>
        <p:spPr>
          <a:xfrm>
            <a:off x="9025128" y="6117336"/>
            <a:ext cx="2807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+ App Insights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 Intelligence Assistant - Architecture Flow</dc:title>
  <dc:subject>PptxGenJS Presentation</dc:subject>
  <dc:creator>PptxGenJS</dc:creator>
  <cp:lastModifiedBy>PptxGenJS</cp:lastModifiedBy>
  <cp:revision>1</cp:revision>
  <dcterms:created xsi:type="dcterms:W3CDTF">2026-03-10T13:52:01Z</dcterms:created>
  <dcterms:modified xsi:type="dcterms:W3CDTF">2026-03-10T13:52:01Z</dcterms:modified>
</cp:coreProperties>
</file>